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2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5dbf6baf92f47ac" /><Relationship Type="http://schemas.openxmlformats.org/officeDocument/2006/relationships/extended-properties" Target="/docProps/app.xml" Id="R5e41cc3e410e4cfe" /><Relationship Type="http://schemas.openxmlformats.org/officeDocument/2006/relationships/officeDocument" Target="/ppt/presentation.xml" Id="Rfc48817d107745a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1887da239ce4875"/>
  </p:sldMasterIdLst>
  <p:notesMasterIdLst>
    <p:notesMasterId xmlns:r="http://schemas.openxmlformats.org/officeDocument/2006/relationships" r:id="R11395ffdc0cf42d4"/>
  </p:notesMasterIdLst>
  <p:sldIdLst>
    <p:sldId xmlns:r="http://schemas.openxmlformats.org/officeDocument/2006/relationships" id="256" r:id="R21d647203d854334"/>
    <p:sldId xmlns:r="http://schemas.openxmlformats.org/officeDocument/2006/relationships" id="257" r:id="R0764921a9bea4143"/>
    <p:sldId xmlns:r="http://schemas.openxmlformats.org/officeDocument/2006/relationships" id="258" r:id="R2ba40fea2768493a"/>
    <p:sldId xmlns:r="http://schemas.openxmlformats.org/officeDocument/2006/relationships" id="259" r:id="R8ececd7e4fe1420e"/>
    <p:sldId xmlns:r="http://schemas.openxmlformats.org/officeDocument/2006/relationships" id="260" r:id="Rbe1a80ec16524e04"/>
    <p:sldId xmlns:r="http://schemas.openxmlformats.org/officeDocument/2006/relationships" id="261" r:id="R681ab39fda2642c8"/>
    <p:sldId xmlns:r="http://schemas.openxmlformats.org/officeDocument/2006/relationships" id="262" r:id="R51575209b34f4efb"/>
    <p:sldId xmlns:r="http://schemas.openxmlformats.org/officeDocument/2006/relationships" id="263" r:id="R36d05f6c34f1486d"/>
    <p:sldId xmlns:r="http://schemas.openxmlformats.org/officeDocument/2006/relationships" id="264" r:id="Ra34a533bffd349c7"/>
    <p:sldId xmlns:r="http://schemas.openxmlformats.org/officeDocument/2006/relationships" id="265" r:id="R204baaf92de54af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3113a84e9914e93" /><Relationship Type="http://schemas.openxmlformats.org/officeDocument/2006/relationships/slideMaster" Target="/ppt/slideMasters/slideMaster1.xml" Id="Rf1887da239ce4875" /><Relationship Type="http://schemas.openxmlformats.org/officeDocument/2006/relationships/notesMaster" Target="/ppt/notesMasters/notesMaster1.xml" Id="R11395ffdc0cf42d4" /><Relationship Type="http://schemas.openxmlformats.org/officeDocument/2006/relationships/presProps" Target="/ppt/presProps.xml" Id="Re5290d84101a44dc" /><Relationship Type="http://schemas.openxmlformats.org/officeDocument/2006/relationships/tableStyles" Target="/ppt/tableStyles.xml" Id="Rf3b876e17b6d4de5" /><Relationship Type="http://schemas.openxmlformats.org/officeDocument/2006/relationships/slide" Target="/ppt/slides/slide1.xml" Id="R21d647203d854334" /><Relationship Type="http://schemas.openxmlformats.org/officeDocument/2006/relationships/slide" Target="/ppt/slides/slide2.xml" Id="R0764921a9bea4143" /><Relationship Type="http://schemas.openxmlformats.org/officeDocument/2006/relationships/slide" Target="/ppt/slides/slide3.xml" Id="R2ba40fea2768493a" /><Relationship Type="http://schemas.openxmlformats.org/officeDocument/2006/relationships/slide" Target="/ppt/slides/slide4.xml" Id="R8ececd7e4fe1420e" /><Relationship Type="http://schemas.openxmlformats.org/officeDocument/2006/relationships/slide" Target="/ppt/slides/slide5.xml" Id="Rbe1a80ec16524e04" /><Relationship Type="http://schemas.openxmlformats.org/officeDocument/2006/relationships/slide" Target="/ppt/slides/slide6.xml" Id="R681ab39fda2642c8" /><Relationship Type="http://schemas.openxmlformats.org/officeDocument/2006/relationships/slide" Target="/ppt/slides/slide7.xml" Id="R51575209b34f4efb" /><Relationship Type="http://schemas.openxmlformats.org/officeDocument/2006/relationships/slide" Target="/ppt/slides/slide8.xml" Id="R36d05f6c34f1486d" /><Relationship Type="http://schemas.openxmlformats.org/officeDocument/2006/relationships/slide" Target="/ppt/slides/slide9.xml" Id="Ra34a533bffd349c7" /><Relationship Type="http://schemas.openxmlformats.org/officeDocument/2006/relationships/slide" Target="/ppt/slides/slide10.xml" Id="R204baaf92de54af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adb80a914c1432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237910ffaa94c43" /><Relationship Type="http://schemas.openxmlformats.org/officeDocument/2006/relationships/notesMaster" Target="/ppt/notesMasters/notesMaster1.xml" Id="R496b0188a6cb428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165c38059a24b43" /><Relationship Type="http://schemas.openxmlformats.org/officeDocument/2006/relationships/notesMaster" Target="/ppt/notesMasters/notesMaster1.xml" Id="Re97efbc1653143a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1bbc8c6223f4786" /><Relationship Type="http://schemas.openxmlformats.org/officeDocument/2006/relationships/notesMaster" Target="/ppt/notesMasters/notesMaster1.xml" Id="R6b4f4fc7c7db446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8125b2c0f4b438c" /><Relationship Type="http://schemas.openxmlformats.org/officeDocument/2006/relationships/notesMaster" Target="/ppt/notesMasters/notesMaster1.xml" Id="Re9065d5393cd44f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e4aedbcb20a4370" /><Relationship Type="http://schemas.openxmlformats.org/officeDocument/2006/relationships/notesMaster" Target="/ppt/notesMasters/notesMaster1.xml" Id="R7c02c7ad902f43e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9891ddebcf24de8" /><Relationship Type="http://schemas.openxmlformats.org/officeDocument/2006/relationships/notesMaster" Target="/ppt/notesMasters/notesMaster1.xml" Id="R177fc6907e034a3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75ef80db9a347b2" /><Relationship Type="http://schemas.openxmlformats.org/officeDocument/2006/relationships/notesMaster" Target="/ppt/notesMasters/notesMaster1.xml" Id="Rb50ab44ff09f432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ba446a3bf504942" /><Relationship Type="http://schemas.openxmlformats.org/officeDocument/2006/relationships/notesMaster" Target="/ppt/notesMasters/notesMaster1.xml" Id="R34e90821acbf46b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937d4f790bc4fd8" /><Relationship Type="http://schemas.openxmlformats.org/officeDocument/2006/relationships/notesMaster" Target="/ppt/notesMasters/notesMaster1.xml" Id="R24407b732c99420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0e017ac9cb04d8b" /><Relationship Type="http://schemas.openxmlformats.org/officeDocument/2006/relationships/notesMaster" Target="/ppt/notesMasters/notesMaster1.xml" Id="R2b0357c200e9497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ТЗ ФЦ БАС 2026. Версия продукта warehouse-1.0.0. Полный сценарий: склад.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ТЗ ФЦ БАС, разделы 1 и 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Реализовано в приложении. Подробный сценарий: docs/USER_GUIDE.md.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catalog_export_v4.csv: 223 строки, 187 уникальных ID. Датасеты_хакатон.xlsx: 3 объекта. Примеры_решений_типы_объектов.docx. https://ronavi-robotics.ru/catalogue/h1500 проверено 17.09.2026.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core/engine.py: applicability. Жёсткое ограничение исключает продукт независимо от баллов. Недостающие характеристики обозначены как требующие проверки.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output/sample-report.json, стандартные параметры. Модель warehouse-1.0.0. 17 роботов, 4 зарядки, 5 лет. Номинальные рубли без отдельной модели налогов, финансирования и дисконтирования.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core/engine.py, docs/MODEL.md. Цена робота 2,7 млн ₽, зарплата 120 тыс. ₽/мес., начисления 1,302. Высвобождение 55%, реализация 80%: денежная экономия на 11 FTE. Окупаемость простая, CAPEX/годовой эффект.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SimPy, seed=42, 4 ч. Исходно: loading_bays=3, corridor_capacity=3. Вариант: 6 и 14 соответственно. Изменение схемы является допущением, требует обследования и уточнения CAPEX. output/sample-report.json и improved-scenario.json.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config/, core/, docker-compose.yml, docs/ARCHITECTURE.md. Контейнерный стек подготовлен, публичное развёртывание ещё не выполнено.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docs/RELEASE_CHECKLIST.md. Проверено локально 17.09.2026: 37 тестов, 50 параллельных запросов расчёта, 50 симуляций. Публичный адрес, Docker/PostgreSQL на целевом VPS, внешний HTTPS и недельная доступность ещё требуют проверки после предоставления сервера.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834543327c475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4e301757f4d48b1" /><Relationship Type="http://schemas.openxmlformats.org/officeDocument/2006/relationships/slideLayout" Target="/ppt/slideLayouts/slideLayout1.xml" Id="R30b28f9ed00c417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0b28f9ed00c417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570df033f84651" /><Relationship Type="http://schemas.openxmlformats.org/officeDocument/2006/relationships/notesSlide" Target="/ppt/notesSlides/notesSlide1.xml" Id="R129688e0f1704d4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c2238f668d46ec" /><Relationship Type="http://schemas.openxmlformats.org/officeDocument/2006/relationships/notesSlide" Target="/ppt/notesSlides/notesSlide2.xml" Id="R3b1f6a18e605476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d4bf198fb04cf2" /><Relationship Type="http://schemas.openxmlformats.org/officeDocument/2006/relationships/notesSlide" Target="/ppt/notesSlides/notesSlide3.xml" Id="R2b3fc33ae996457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6b723e06714040" /><Relationship Type="http://schemas.openxmlformats.org/officeDocument/2006/relationships/notesSlide" Target="/ppt/notesSlides/notesSlide4.xml" Id="R58f14ac55b0e425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3a00c5c6574d0b" /><Relationship Type="http://schemas.openxmlformats.org/officeDocument/2006/relationships/notesSlide" Target="/ppt/notesSlides/notesSlide5.xml" Id="R12b788419e2c4d2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923867b1174940" /><Relationship Type="http://schemas.openxmlformats.org/officeDocument/2006/relationships/chart" Target="/ppt/slides/charts/chart1.xml" Id="Rc702e9e763dd4c73" /><Relationship Type="http://schemas.openxmlformats.org/officeDocument/2006/relationships/notesSlide" Target="/ppt/notesSlides/notesSlide6.xml" Id="Rd18eed2c66aa4a7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77d523a44f4bc4" /><Relationship Type="http://schemas.openxmlformats.org/officeDocument/2006/relationships/notesSlide" Target="/ppt/notesSlides/notesSlide7.xml" Id="R1261f2fa43b048c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7e2b3508784f2e" /><Relationship Type="http://schemas.openxmlformats.org/officeDocument/2006/relationships/chart" Target="/ppt/slides/charts/chart2.xml" Id="Rc571704245f64bbb" /><Relationship Type="http://schemas.openxmlformats.org/officeDocument/2006/relationships/notesSlide" Target="/ppt/notesSlides/notesSlide8.xml" Id="Rc89a0dd31d8c496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b64a7f0f914198" /><Relationship Type="http://schemas.openxmlformats.org/officeDocument/2006/relationships/notesSlide" Target="/ppt/notesSlides/notesSlide9.xml" Id="Re4ea6d970d1f4b1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ed5d2b7cc6432a" /><Relationship Type="http://schemas.openxmlformats.org/officeDocument/2006/relationships/notesSlide" Target="/ppt/notesSlides/notesSlide10.xml" Id="R2ff9bcecf8f04817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TCO, млн ₽</c:v>
          </c:tx>
          <c:spPr>
            <a:solidFill xmlns:a="http://schemas.openxmlformats.org/drawingml/2006/main">
              <a:srgbClr val="C06B35"/>
            </a:solidFill>
          </c:spPr>
          <c:cat>
            <c:strRef>
              <c:f>'Chart Data'!$A$2:$A$4</c:f>
              <c:strCache>
                <c:ptCount val="3"/>
                <c:pt idx="0">
                  <c:v>Текущий процесс</c:v>
                </c:pt>
                <c:pt idx="1">
                  <c:v>Покупка</c:v>
                </c:pt>
                <c:pt idx="2">
                  <c:v>Услуга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234.36</c:v>
                </c:pt>
                <c:pt idx="1">
                  <c:v>228.2606</c:v>
                </c:pt>
                <c:pt idx="2">
                  <c:v>287.3206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DejaVu Sans"/>
                  <a:ea typeface="DejaVu Sans"/>
                  <a:cs typeface="DejaVu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Операций/ч</c:v>
          </c:tx>
          <c:spPr>
            <a:solidFill xmlns:a="http://schemas.openxmlformats.org/drawingml/2006/main">
              <a:srgbClr val="C06B35"/>
            </a:solidFill>
          </c:spPr>
          <c:cat>
            <c:strRef>
              <c:f>'Chart Data'!$A$2:$A$4</c:f>
              <c:strCache>
                <c:ptCount val="3"/>
                <c:pt idx="0">
                  <c:v>Исходная схема</c:v>
                </c:pt>
                <c:pt idx="1">
                  <c:v>Изменённая схема</c:v>
                </c:pt>
                <c:pt idx="2">
                  <c:v>Целевой поток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54.75</c:v>
                </c:pt>
                <c:pt idx="1">
                  <c:v>131</c:v>
                </c:pt>
                <c:pt idx="2">
                  <c:v>136.36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DejaVu Sans"/>
                  <a:ea typeface="DejaVu Sans"/>
                  <a:cs typeface="DejaVu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193508-2799-4A99-A736-053C2739D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92D43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92D43"/>
                </a:solidFill>
                <a:latin typeface="DejaVu Sans"/>
                <a:ea typeface="DejaVu Sans"/>
                <a:cs typeface="DejaVu Sans"/>
              </a:rPr>
              <a:t>Робоскоп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89ED3E-506C-4CFF-8A79-ACE7053A7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78A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65778A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E8AE2C-EC2E-46B4-B97E-C264F3BF4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0858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192D43"/>
                </a:solidFill>
                <a:latin typeface="DejaVu Sans"/>
                <a:ea typeface="DejaVu Sans"/>
                <a:cs typeface="DejaVu Sans"/>
              </a:defRPr>
            </a:pPr>
            <a:r>
              <a:rPr sz="4500" b="1">
                <a:solidFill>
                  <a:srgbClr val="192D43"/>
                </a:solidFill>
                <a:latin typeface="DejaVu Sans"/>
                <a:ea typeface="DejaVu Sans"/>
                <a:cs typeface="DejaVu Sans"/>
              </a:rPr>
              <a:t>Оценка роботизации</a:t>
            </a:r>
          </a:p>
          <a:p xmlns:a="http://schemas.openxmlformats.org/drawingml/2006/main">
            <a:pPr>
              <a:defRPr sz="4500" b="1">
                <a:solidFill>
                  <a:srgbClr val="192D43"/>
                </a:solidFill>
                <a:latin typeface="DejaVu Sans"/>
                <a:ea typeface="DejaVu Sans"/>
                <a:cs typeface="DejaVu Sans"/>
              </a:defRPr>
            </a:pPr>
            <a:r>
              <a:rPr sz="4500" b="1">
                <a:solidFill>
                  <a:srgbClr val="192D43"/>
                </a:solidFill>
                <a:latin typeface="DejaVu Sans"/>
                <a:ea typeface="DejaVu Sans"/>
                <a:cs typeface="DejaVu Sans"/>
              </a:rPr>
              <a:t>до инвестиций в оборудование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361E02-34F4-4634-A55E-190A15A30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C06B35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C06B35"/>
                </a:solidFill>
                <a:latin typeface="DejaVu Sans"/>
                <a:ea typeface="DejaVu Sans"/>
                <a:cs typeface="DejaVu Sans"/>
              </a:rPr>
              <a:t>Перемещение паллет на складе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2A9E2C-7E06-44A9-9650-EB494EFD5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2925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78A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65778A"/>
                </a:solidFill>
                <a:latin typeface="DejaVu Sans"/>
                <a:ea typeface="DejaVu Sans"/>
                <a:cs typeface="DejaVu Sans"/>
              </a:rPr>
              <a:t>Хакатон ФЦ БАС / сентябрь 2026</a:t>
            </a:r>
          </a:p>
        </p:txBody>
      </p:sp>
    </p:spTree>
    <p:extLst>
      <p:ext uri="{BB962C8B-B14F-4D97-AF65-F5344CB8AC3E}">
        <p14:creationId xmlns:p14="http://schemas.microsoft.com/office/powerpoint/2010/main" val="37600163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12529D-02C6-4D5C-B0A0-1214B028F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92D43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92D43"/>
                </a:solidFill>
                <a:latin typeface="DejaVu Sans"/>
                <a:ea typeface="DejaVu Sans"/>
                <a:cs typeface="DejaVu Sans"/>
              </a:rPr>
              <a:t>Задача руководителя склада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F3245B-50E0-4CF1-B1E7-FDA19786C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78A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65778A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D9BD76-5FBD-470D-B0BF-B0E026973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1450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C06B35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C06B35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B013AC-908F-4E5C-9B1D-75B3DA6EF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714500"/>
            <a:ext cx="9810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92D43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92D43"/>
                </a:solidFill>
                <a:latin typeface="DejaVu Sans"/>
                <a:ea typeface="DejaVu Sans"/>
                <a:cs typeface="DejaVu Sans"/>
              </a:rPr>
              <a:t>Подобрать оборудование под реальную нагрузку и ограничения объекта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7799B4-F99C-450A-9261-4A3B6548A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00325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C06B35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C06B35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BD2094-048E-4AC8-8B5F-2B5A4DB45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600325"/>
            <a:ext cx="9810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92D43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92D43"/>
                </a:solidFill>
                <a:latin typeface="DejaVu Sans"/>
                <a:ea typeface="DejaVu Sans"/>
                <a:cs typeface="DejaVu Sans"/>
              </a:rPr>
              <a:t>Сравнить текущий процесс, покупку и услугу на одном горизонте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54FFC4-B0A1-4DE0-B5D6-0CD700694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8615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C06B35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C06B35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465E65-0070-440F-ADD8-E7704C850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86150"/>
            <a:ext cx="9810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92D43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92D43"/>
                </a:solidFill>
                <a:latin typeface="DejaVu Sans"/>
                <a:ea typeface="DejaVu Sans"/>
                <a:cs typeface="DejaVu Sans"/>
              </a:rPr>
              <a:t>Проверить, достижима ли производительность из расчёта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A32806-F896-4F86-B08C-6393F388B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71975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C06B35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C06B35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B3CCA3-6B2F-4BF4-BF54-3982D5DA4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71975"/>
            <a:ext cx="9810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92D43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92D43"/>
                </a:solidFill>
                <a:latin typeface="DejaVu Sans"/>
                <a:ea typeface="DejaVu Sans"/>
                <a:cs typeface="DejaVu Sans"/>
              </a:rPr>
              <a:t>Подготовить обоснование пилота для технической и финансовой команды</a:t>
            </a:r>
          </a:p>
        </p:txBody>
      </p:sp>
    </p:spTree>
    <p:extLst>
      <p:ext uri="{BB962C8B-B14F-4D97-AF65-F5344CB8AC3E}">
        <p14:creationId xmlns:p14="http://schemas.microsoft.com/office/powerpoint/2010/main" val="144158301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5F8981-746F-44F4-8DAE-10F9CBC23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92D43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92D43"/>
                </a:solidFill>
                <a:latin typeface="DejaVu Sans"/>
                <a:ea typeface="DejaVu Sans"/>
                <a:cs typeface="DejaVu Sans"/>
              </a:rPr>
              <a:t>Путь пользователя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5B44BE-A608-4F3D-AFA2-980AEFC64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78A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65778A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BD24A5-7DE7-4CAC-AE1A-ECC773F03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1450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C06B35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C06B35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8A8342-415A-4A81-8649-53FFEAB03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714500"/>
            <a:ext cx="9810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92D43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92D43"/>
                </a:solidFill>
                <a:latin typeface="DejaVu Sans"/>
                <a:ea typeface="DejaVu Sans"/>
                <a:cs typeface="DejaVu Sans"/>
              </a:rPr>
              <a:t>Параметры склада: ввод вручную или импорт Excel / CSV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4C014F-D3CC-4756-85C1-0C277EE3C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00325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C06B35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C06B35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2FF115-04BD-40EE-930E-8B0A546CB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600325"/>
            <a:ext cx="9810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92D43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92D43"/>
                </a:solidFill>
                <a:latin typeface="DejaVu Sans"/>
                <a:ea typeface="DejaVu Sans"/>
                <a:cs typeface="DejaVu Sans"/>
              </a:rPr>
              <a:t>Каталог: объяснение ограничений и сравнение до четырёх решений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04F811-EA52-4D25-AFD0-168B51689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8615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C06B35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C06B35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77D70E-05D4-438A-8620-D6F0CF06A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86150"/>
            <a:ext cx="9810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92D43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92D43"/>
                </a:solidFill>
                <a:latin typeface="DejaVu Sans"/>
                <a:ea typeface="DejaVu Sans"/>
                <a:cs typeface="DejaVu Sans"/>
              </a:rPr>
              <a:t>Экономика: парк роботов, состав затрат, TCO и чувствительность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E53966-1D0A-45BE-AE78-ADDB452B5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71975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C06B35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C06B35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29974E-4DB0-43F5-ADF0-9AF74E9E2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71975"/>
            <a:ext cx="9810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92D43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92D43"/>
                </a:solidFill>
                <a:latin typeface="DejaVu Sans"/>
                <a:ea typeface="DejaVu Sans"/>
                <a:cs typeface="DejaVu Sans"/>
              </a:rPr>
              <a:t>Симуляция, сохранение версии и отчёт PDF / Excel</a:t>
            </a:r>
          </a:p>
        </p:txBody>
      </p:sp>
    </p:spTree>
    <p:extLst>
      <p:ext uri="{BB962C8B-B14F-4D97-AF65-F5344CB8AC3E}">
        <p14:creationId xmlns:p14="http://schemas.microsoft.com/office/powerpoint/2010/main" val="7186679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AF7ED1-AFE2-46CA-8572-65A861092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92D43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92D43"/>
                </a:solidFill>
                <a:latin typeface="DejaVu Sans"/>
                <a:ea typeface="DejaVu Sans"/>
                <a:cs typeface="DejaVu Sans"/>
              </a:rPr>
              <a:t>Данные и происхождение допущений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8FEA2B-5A24-43B4-9F6A-9659DB984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78A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65778A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20A5E4-F2A9-4088-B584-BB74736D8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4667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0" b="1">
                <a:solidFill>
                  <a:srgbClr val="C06B35"/>
                </a:solidFill>
                <a:latin typeface="DejaVu Sans"/>
                <a:ea typeface="DejaVu Sans"/>
                <a:cs typeface="DejaVu Sans"/>
              </a:defRPr>
            </a:pPr>
            <a:r>
              <a:rPr sz="7500" b="1">
                <a:solidFill>
                  <a:srgbClr val="C06B35"/>
                </a:solidFill>
                <a:latin typeface="DejaVu Sans"/>
                <a:ea typeface="DejaVu Sans"/>
                <a:cs typeface="DejaVu Sans"/>
              </a:rPr>
              <a:t>187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A5EB8E-3B57-43AB-8495-CF802FB2E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28950"/>
            <a:ext cx="4953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92D43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92D43"/>
                </a:solidFill>
                <a:latin typeface="DejaVu Sans"/>
                <a:ea typeface="DejaVu Sans"/>
                <a:cs typeface="DejaVu Sans"/>
              </a:rPr>
              <a:t>продуктов в каталоге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79A159-B5ED-4A84-B069-687CF72B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52875"/>
            <a:ext cx="4953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5778A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65778A"/>
                </a:solidFill>
                <a:latin typeface="DejaVu Sans"/>
                <a:ea typeface="DejaVu Sans"/>
                <a:cs typeface="DejaVu Sans"/>
              </a:rPr>
              <a:t>223 исходные строки сохраняют</a:t>
            </a:r>
          </a:p>
          <a:p xmlns:a="http://schemas.openxmlformats.org/drawingml/2006/main">
            <a:pPr>
              <a:defRPr sz="2025" b="0">
                <a:solidFill>
                  <a:srgbClr val="65778A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65778A"/>
                </a:solidFill>
                <a:latin typeface="DejaVu Sans"/>
                <a:ea typeface="DejaVu Sans"/>
                <a:cs typeface="DejaVu Sans"/>
              </a:rPr>
              <a:t>отрасли и примеры применения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5E0810-0FFD-401A-8FAC-13C4D1A1F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28800"/>
            <a:ext cx="5191125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92D43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92D43"/>
                </a:solidFill>
                <a:latin typeface="DejaVu Sans"/>
                <a:ea typeface="DejaVu Sans"/>
                <a:cs typeface="DejaVu Sans"/>
              </a:rPr>
              <a:t>Источник и дата в карточке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92D43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92D43"/>
                </a:solidFill>
                <a:latin typeface="DejaVu Sans"/>
                <a:ea typeface="DejaVu Sans"/>
                <a:cs typeface="DejaVu Sans"/>
              </a:rPr>
              <a:t>Конфликтующие цены видны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92D43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92D43"/>
                </a:solidFill>
                <a:latin typeface="DejaVu Sans"/>
                <a:ea typeface="DejaVu Sans"/>
                <a:cs typeface="DejaVu Sans"/>
              </a:rPr>
              <a:t>Допущения можно изменить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92D43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92D43"/>
                </a:solidFill>
                <a:latin typeface="DejaVu Sans"/>
                <a:ea typeface="DejaVu Sans"/>
                <a:cs typeface="DejaVu Sans"/>
              </a:rPr>
              <a:t>Версия хранит исходные значения</a:t>
            </a:r>
          </a:p>
        </p:txBody>
      </p:sp>
    </p:spTree>
    <p:extLst>
      <p:ext uri="{BB962C8B-B14F-4D97-AF65-F5344CB8AC3E}">
        <p14:creationId xmlns:p14="http://schemas.microsoft.com/office/powerpoint/2010/main" val="7187501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BBA5CB-485D-4AD2-BA01-DA52D9BDC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92D43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92D43"/>
                </a:solidFill>
                <a:latin typeface="DejaVu Sans"/>
                <a:ea typeface="DejaVu Sans"/>
                <a:cs typeface="DejaVu Sans"/>
              </a:rPr>
              <a:t>Объяснимый подбор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BAFE8B-6E5C-42CB-A4BB-59C3C40EA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78A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65778A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E3DBC7-51EF-4ECF-88E9-A04084B3E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33550"/>
            <a:ext cx="5191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C06B35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C06B35"/>
                </a:solidFill>
                <a:latin typeface="DejaVu Sans"/>
                <a:ea typeface="DejaVu Sans"/>
                <a:cs typeface="DejaVu Sans"/>
              </a:rPr>
              <a:t>Сначала ограничения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26CDEB-8191-4377-B8FA-F8855CD6B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0"/>
            <a:ext cx="5095875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92D43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92D43"/>
                </a:solidFill>
                <a:latin typeface="DejaVu Sans"/>
                <a:ea typeface="DejaVu Sans"/>
                <a:cs typeface="DejaVu Sans"/>
              </a:rPr>
              <a:t>Назначение оборудования</a:t>
            </a:r>
          </a:p>
          <a:p xmlns:a="http://schemas.openxmlformats.org/drawingml/2006/main">
            <a:pPr>
              <a:defRPr sz="2250" b="0">
                <a:solidFill>
                  <a:srgbClr val="192D43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92D43"/>
                </a:solidFill>
                <a:latin typeface="DejaVu Sans"/>
                <a:ea typeface="DejaVu Sans"/>
                <a:cs typeface="DejaVu Sans"/>
              </a:rPr>
              <a:t>Масса груза</a:t>
            </a:r>
          </a:p>
          <a:p xmlns:a="http://schemas.openxmlformats.org/drawingml/2006/main">
            <a:pPr>
              <a:defRPr sz="2250" b="0">
                <a:solidFill>
                  <a:srgbClr val="192D43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92D43"/>
                </a:solidFill>
                <a:latin typeface="DejaVu Sans"/>
                <a:ea typeface="DejaVu Sans"/>
                <a:cs typeface="DejaVu Sans"/>
              </a:rPr>
              <a:t>Ширина проходов</a:t>
            </a:r>
          </a:p>
          <a:p xmlns:a="http://schemas.openxmlformats.org/drawingml/2006/main">
            <a:pPr>
              <a:defRPr sz="2250" b="0">
                <a:solidFill>
                  <a:srgbClr val="192D43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92D43"/>
                </a:solidFill>
                <a:latin typeface="DejaVu Sans"/>
                <a:ea typeface="DejaVu Sans"/>
                <a:cs typeface="DejaVu Sans"/>
              </a:rPr>
              <a:t>Температура и этажность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F4CE7E-3850-450D-A074-A9E38B721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33550"/>
            <a:ext cx="5191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C06B35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C06B35"/>
                </a:solidFill>
                <a:latin typeface="DejaVu Sans"/>
                <a:ea typeface="DejaVu Sans"/>
                <a:cs typeface="DejaVu Sans"/>
              </a:rPr>
              <a:t>Затем ранжирование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AD057D-8468-42A9-8180-CF01654E8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71750"/>
            <a:ext cx="5191125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92D43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92D43"/>
                </a:solidFill>
                <a:latin typeface="DejaVu Sans"/>
                <a:ea typeface="DejaVu Sans"/>
                <a:cs typeface="DejaVu Sans"/>
              </a:rPr>
              <a:t>40 баллов: процесс</a:t>
            </a:r>
          </a:p>
          <a:p xmlns:a="http://schemas.openxmlformats.org/drawingml/2006/main">
            <a:pPr>
              <a:defRPr sz="2100" b="0">
                <a:solidFill>
                  <a:srgbClr val="192D43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92D43"/>
                </a:solidFill>
                <a:latin typeface="DejaVu Sans"/>
                <a:ea typeface="DejaVu Sans"/>
                <a:cs typeface="DejaVu Sans"/>
              </a:rPr>
              <a:t>25 баллов: груз</a:t>
            </a:r>
          </a:p>
          <a:p xmlns:a="http://schemas.openxmlformats.org/drawingml/2006/main">
            <a:pPr>
              <a:defRPr sz="2100" b="0">
                <a:solidFill>
                  <a:srgbClr val="192D43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92D43"/>
                </a:solidFill>
                <a:latin typeface="DejaVu Sans"/>
                <a:ea typeface="DejaVu Sans"/>
                <a:cs typeface="DejaVu Sans"/>
              </a:rPr>
              <a:t>20 баллов: полнота характеристик</a:t>
            </a:r>
          </a:p>
          <a:p xmlns:a="http://schemas.openxmlformats.org/drawingml/2006/main">
            <a:pPr>
              <a:defRPr sz="2100" b="0">
                <a:solidFill>
                  <a:srgbClr val="192D43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92D43"/>
                </a:solidFill>
                <a:latin typeface="DejaVu Sans"/>
                <a:ea typeface="DejaVu Sans"/>
                <a:cs typeface="DejaVu Sans"/>
              </a:rPr>
              <a:t>15 баллов: зрелость продукта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91AD6D-DB4D-4646-BD8E-594679C7B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10250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5778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65778A"/>
                </a:solidFill>
                <a:latin typeface="DejaVu Sans"/>
                <a:ea typeface="DejaVu Sans"/>
                <a:cs typeface="DejaVu Sans"/>
              </a:rPr>
              <a:t>Неизвестный параметр остаётся видимым ограничением оценки.</a:t>
            </a:r>
          </a:p>
        </p:txBody>
      </p:sp>
    </p:spTree>
    <p:extLst>
      <p:ext uri="{BB962C8B-B14F-4D97-AF65-F5344CB8AC3E}">
        <p14:creationId xmlns:p14="http://schemas.microsoft.com/office/powerpoint/2010/main" val="16777985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E7A2B2-4BC5-47AD-AC56-F400770A6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92D43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92D43"/>
                </a:solidFill>
                <a:latin typeface="DejaVu Sans"/>
                <a:ea typeface="DejaVu Sans"/>
                <a:cs typeface="DejaVu Sans"/>
              </a:rPr>
              <a:t>Экономика демонстрационного склада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DBE2FB-C3E1-4FF5-B02D-B1EF1B453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78A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65778A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EDCE3D-1F9B-4A9F-B0CD-28E34C4BC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5778A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65778A"/>
                </a:solidFill>
                <a:latin typeface="DejaVu Sans"/>
                <a:ea typeface="DejaVu Sans"/>
                <a:cs typeface="DejaVu Sans"/>
              </a:rPr>
              <a:t>Полная стоимость процесса за 5 лет, млн ₽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66750" y="2066925"/>
          <a:ext xmlns:a="http://schemas.openxmlformats.org/drawingml/2006/main" cx="6953250" cy="3381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702e9e763dd4c73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2C2862-A397-445E-B747-6699C1BF3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95500"/>
            <a:ext cx="3524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92D43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92D43"/>
                </a:solidFill>
                <a:latin typeface="DejaVu Sans"/>
                <a:ea typeface="DejaVu Sans"/>
                <a:cs typeface="DejaVu Sans"/>
              </a:rPr>
              <a:t>17 роботов</a:t>
            </a:r>
          </a:p>
          <a:p xmlns:a="http://schemas.openxmlformats.org/drawingml/2006/main">
            <a:pPr>
              <a:defRPr sz="2400" b="1">
                <a:solidFill>
                  <a:srgbClr val="192D43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92D43"/>
                </a:solidFill>
                <a:latin typeface="DejaVu Sans"/>
                <a:ea typeface="DejaVu Sans"/>
                <a:cs typeface="DejaVu Sans"/>
              </a:rPr>
              <a:t>4 зарядные станции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A507A7-E6B9-4AF7-8B43-CB289C518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48075"/>
            <a:ext cx="3524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06B35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C06B35"/>
                </a:solidFill>
                <a:latin typeface="DejaVu Sans"/>
                <a:ea typeface="DejaVu Sans"/>
                <a:cs typeface="DejaVu Sans"/>
              </a:rPr>
              <a:t>CAPEX покупки</a:t>
            </a:r>
          </a:p>
          <a:p xmlns:a="http://schemas.openxmlformats.org/drawingml/2006/main">
            <a:pPr>
              <a:defRPr sz="2250" b="1">
                <a:solidFill>
                  <a:srgbClr val="C06B35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C06B35"/>
                </a:solidFill>
                <a:latin typeface="DejaVu Sans"/>
                <a:ea typeface="DejaVu Sans"/>
                <a:cs typeface="DejaVu Sans"/>
              </a:rPr>
              <a:t>56,815 млн 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D4A03C-48CF-41C7-85B4-E9009F98B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4835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5778A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65778A"/>
                </a:solidFill>
                <a:latin typeface="DejaVu Sans"/>
                <a:ea typeface="DejaVu Sans"/>
                <a:cs typeface="DejaVu Sans"/>
              </a:rPr>
              <a:t>Экономический эффект условен до проверки пропускной способности.</a:t>
            </a:r>
          </a:p>
        </p:txBody>
      </p:sp>
    </p:spTree>
    <p:extLst>
      <p:ext uri="{BB962C8B-B14F-4D97-AF65-F5344CB8AC3E}">
        <p14:creationId xmlns:p14="http://schemas.microsoft.com/office/powerpoint/2010/main" val="165357760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607F0D-9775-4BCE-A3D1-E3F4CBB14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92D43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92D43"/>
                </a:solidFill>
                <a:latin typeface="DejaVu Sans"/>
                <a:ea typeface="DejaVu Sans"/>
                <a:cs typeface="DejaVu Sans"/>
              </a:rPr>
              <a:t>Расчёт затрат и чувствительность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D44856-BF10-4524-9B36-89A2289C5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78A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65778A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B184CB-B7B9-4938-B094-068B45D3C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7165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C06B35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C06B35"/>
                </a:solidFill>
                <a:latin typeface="DejaVu Sans"/>
                <a:ea typeface="DejaVu Sans"/>
                <a:cs typeface="DejaVu Sans"/>
              </a:rPr>
              <a:t>OPEX включает оставшийся персонал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328FB5-3E4E-4ED9-9459-DEDB4AB08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00325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92D43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92D43"/>
                </a:solidFill>
                <a:latin typeface="DejaVu Sans"/>
                <a:ea typeface="DejaVu Sans"/>
                <a:cs typeface="DejaVu Sans"/>
              </a:rPr>
              <a:t>Высвобождение времени становится денежной экономией</a:t>
            </a:r>
          </a:p>
          <a:p xmlns:a="http://schemas.openxmlformats.org/drawingml/2006/main">
            <a:pPr>
              <a:defRPr sz="2175" b="0">
                <a:solidFill>
                  <a:srgbClr val="192D43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92D43"/>
                </a:solidFill>
                <a:latin typeface="DejaVu Sans"/>
                <a:ea typeface="DejaVu Sans"/>
                <a:cs typeface="DejaVu Sans"/>
              </a:rPr>
              <a:t>только в заданной пользователем доле.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C7346D-BF84-4A02-A5BC-0C78C5D33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0050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92D43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92D43"/>
                </a:solidFill>
                <a:latin typeface="DejaVu Sans"/>
                <a:ea typeface="DejaVu Sans"/>
                <a:cs typeface="DejaVu Sans"/>
              </a:rPr>
              <a:t>TCO = вложения + годовые затраты + замены АКБ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97823A-4AF3-4FAC-AFB0-D12BF7FEF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895850"/>
            <a:ext cx="10953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92D43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92D43"/>
                </a:solidFill>
                <a:latin typeface="DejaVu Sans"/>
                <a:ea typeface="DejaVu Sans"/>
                <a:cs typeface="DejaVu Sans"/>
              </a:rPr>
              <a:t>Чувствительность ±20%: цена робота, поток и зарплата.</a:t>
            </a:r>
          </a:p>
          <a:p xmlns:a="http://schemas.openxmlformats.org/drawingml/2006/main">
            <a:pPr>
              <a:defRPr sz="2175" b="0">
                <a:solidFill>
                  <a:srgbClr val="192D43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92D43"/>
                </a:solidFill>
                <a:latin typeface="DejaVu Sans"/>
                <a:ea typeface="DejaVu Sans"/>
                <a:cs typeface="DejaVu Sans"/>
              </a:rPr>
              <a:t>Изменение потока пересчитывает целое число роботов.</a:t>
            </a:r>
          </a:p>
        </p:txBody>
      </p:sp>
    </p:spTree>
    <p:extLst>
      <p:ext uri="{BB962C8B-B14F-4D97-AF65-F5344CB8AC3E}">
        <p14:creationId xmlns:p14="http://schemas.microsoft.com/office/powerpoint/2010/main" val="34289151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6CD521-A8B7-41E9-AB3B-1590F20CD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92D43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92D43"/>
                </a:solidFill>
                <a:latin typeface="DejaVu Sans"/>
                <a:ea typeface="DejaVu Sans"/>
                <a:cs typeface="DejaVu Sans"/>
              </a:rPr>
              <a:t>Симуляция обнаруживает узкое место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3E6656-11E7-4CD5-A451-D3F4D5BB3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78A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65778A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473770-5F0A-4429-AB7E-8776B00E1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09700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5778A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65778A"/>
                </a:solidFill>
                <a:latin typeface="DejaVu Sans"/>
                <a:ea typeface="DejaVu Sans"/>
                <a:cs typeface="DejaVu Sans"/>
              </a:rPr>
              <a:t>Производительность, операций в час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66750" y="2000250"/>
          <a:ext xmlns:a="http://schemas.openxmlformats.org/drawingml/2006/main" cx="752475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571704245f64bbb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BAC9B8-96BF-4FEE-9804-74DD62BBC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90750"/>
            <a:ext cx="300037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92D43"/>
                </a:solidFill>
                <a:latin typeface="DejaVu Sans"/>
                <a:ea typeface="DejaVu Sans"/>
                <a:cs typeface="DejaVu Sans"/>
              </a:defRPr>
            </a:pPr>
            <a:r>
              <a:rPr sz="2475" b="1">
                <a:solidFill>
                  <a:srgbClr val="192D43"/>
                </a:solidFill>
                <a:latin typeface="DejaVu Sans"/>
                <a:ea typeface="DejaVu Sans"/>
                <a:cs typeface="DejaVu Sans"/>
              </a:rPr>
              <a:t>Очередь на конец</a:t>
            </a:r>
          </a:p>
          <a:p xmlns:a="http://schemas.openxmlformats.org/drawingml/2006/main">
            <a:pPr>
              <a:defRPr sz="2475" b="1">
                <a:solidFill>
                  <a:srgbClr val="192D43"/>
                </a:solidFill>
                <a:latin typeface="DejaVu Sans"/>
                <a:ea typeface="DejaVu Sans"/>
                <a:cs typeface="DejaVu Sans"/>
              </a:defRPr>
            </a:pPr>
            <a:r>
              <a:rPr sz="2475" b="1">
                <a:solidFill>
                  <a:srgbClr val="192D43"/>
                </a:solidFill>
                <a:latin typeface="DejaVu Sans"/>
                <a:ea typeface="DejaVu Sans"/>
                <a:cs typeface="DejaVu Sans"/>
              </a:rPr>
              <a:t>307 и 0 задач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8F0B86-1B60-47EB-AF85-4EDB924E2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95750"/>
            <a:ext cx="30003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5778A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65778A"/>
                </a:solidFill>
                <a:latin typeface="DejaVu Sans"/>
                <a:ea typeface="DejaVu Sans"/>
                <a:cs typeface="DejaVu Sans"/>
              </a:rPr>
              <a:t>17 роботов</a:t>
            </a:r>
          </a:p>
          <a:p xmlns:a="http://schemas.openxmlformats.org/drawingml/2006/main">
            <a:pPr>
              <a:defRPr sz="2025" b="0">
                <a:solidFill>
                  <a:srgbClr val="65778A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65778A"/>
                </a:solidFill>
                <a:latin typeface="DejaVu Sans"/>
                <a:ea typeface="DejaVu Sans"/>
                <a:cs typeface="DejaVu Sans"/>
              </a:rPr>
              <a:t>в обоих вариантах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96C390-FF08-4966-B07C-972BC4A36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0072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5778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65778A"/>
                </a:solidFill>
                <a:latin typeface="DejaVu Sans"/>
                <a:ea typeface="DejaVu Sans"/>
                <a:cs typeface="DejaVu Sans"/>
              </a:rPr>
              <a:t>6 мест погрузки, ёмкость проезда 14. Вариант проходит критерий модели.</a:t>
            </a:r>
          </a:p>
        </p:txBody>
      </p:sp>
    </p:spTree>
    <p:extLst>
      <p:ext uri="{BB962C8B-B14F-4D97-AF65-F5344CB8AC3E}">
        <p14:creationId xmlns:p14="http://schemas.microsoft.com/office/powerpoint/2010/main" val="16283545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972C98-6261-4FB0-8C43-6F4437D2D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92D43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92D43"/>
                </a:solidFill>
                <a:latin typeface="DejaVu Sans"/>
                <a:ea typeface="DejaVu Sans"/>
                <a:cs typeface="DejaVu Sans"/>
              </a:rPr>
              <a:t>Архитектура и воспроизводимость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DF3607-10C1-4FF6-9C52-3B1C56813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78A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65778A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D46C6E-1539-4BEA-86BA-A64E1302F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9545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C06B35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C06B35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72415D-5B23-4DFF-87CF-AFB8E9823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695450"/>
            <a:ext cx="9810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92D43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92D43"/>
                </a:solidFill>
                <a:latin typeface="DejaVu Sans"/>
                <a:ea typeface="DejaVu Sans"/>
                <a:cs typeface="DejaVu Sans"/>
              </a:rPr>
              <a:t>Python / Django: API, пользователи, проекты и административный интерфейс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A8584F-5D70-4DB9-B74F-C7209D9D9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81275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C06B35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C06B35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4F4AEE-D3B5-4DC5-915E-83144826E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81275"/>
            <a:ext cx="9810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92D43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92D43"/>
                </a:solidFill>
                <a:latin typeface="DejaVu Sans"/>
                <a:ea typeface="DejaVu Sans"/>
                <a:cs typeface="DejaVu Sans"/>
              </a:rPr>
              <a:t>PostgreSQL: каталог, нормы, неизменяемые снимки версий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4CFAB0-1342-497D-9C12-54F5F5460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6710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C06B35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C06B35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5F389E-7FE4-4434-BAAF-230EDC090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67100"/>
            <a:ext cx="9810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92D43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92D43"/>
                </a:solidFill>
                <a:latin typeface="DejaVu Sans"/>
                <a:ea typeface="DejaVu Sans"/>
                <a:cs typeface="DejaVu Sans"/>
              </a:rPr>
              <a:t>SimPy: отдельный обработчик задач и статус выполнения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F01B8B-53C8-4EBE-BF9B-43F7314D9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52925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C06B35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C06B35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83CAC6-7C84-40E5-9FA0-B03EF6B10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52925"/>
            <a:ext cx="9810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92D43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92D43"/>
                </a:solidFill>
                <a:latin typeface="DejaVu Sans"/>
                <a:ea typeface="DejaVu Sans"/>
                <a:cs typeface="DejaVu Sans"/>
              </a:rPr>
              <a:t>Gunicorn, Caddy и Docker Compose: серверный запуск, HTTPS и резервные копии</a:t>
            </a:r>
          </a:p>
        </p:txBody>
      </p:sp>
    </p:spTree>
    <p:extLst>
      <p:ext uri="{BB962C8B-B14F-4D97-AF65-F5344CB8AC3E}">
        <p14:creationId xmlns:p14="http://schemas.microsoft.com/office/powerpoint/2010/main" val="156780352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4597E3-748B-42DA-A10B-B64170597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92D43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92D43"/>
                </a:solidFill>
                <a:latin typeface="DejaVu Sans"/>
                <a:ea typeface="DejaVu Sans"/>
                <a:cs typeface="DejaVu Sans"/>
              </a:rPr>
              <a:t>Границы релиза и следующий шаг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32D9BE-A21A-471A-B447-4B770F09C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78A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65778A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E58AA0-621A-4893-8838-2D2246453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85925"/>
            <a:ext cx="5286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C06B35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C06B35"/>
                </a:solidFill>
                <a:latin typeface="DejaVu Sans"/>
                <a:ea typeface="DejaVu Sans"/>
                <a:cs typeface="DejaVu Sans"/>
              </a:rPr>
              <a:t>Работает полностью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FEC4BB-CEA3-4A2D-8A7E-EFB5B028A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24125"/>
            <a:ext cx="5286375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92D43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92D43"/>
                </a:solidFill>
                <a:latin typeface="DejaVu Sans"/>
                <a:ea typeface="DejaVu Sans"/>
                <a:cs typeface="DejaVu Sans"/>
              </a:rPr>
              <a:t>Склад: подбор, экономика,</a:t>
            </a:r>
          </a:p>
          <a:p xmlns:a="http://schemas.openxmlformats.org/drawingml/2006/main">
            <a:pPr>
              <a:defRPr sz="2100" b="0">
                <a:solidFill>
                  <a:srgbClr val="192D43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92D43"/>
                </a:solidFill>
                <a:latin typeface="DejaVu Sans"/>
                <a:ea typeface="DejaVu Sans"/>
                <a:cs typeface="DejaVu Sans"/>
              </a:rPr>
              <a:t>симуляция и отчёт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92D43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92D43"/>
                </a:solidFill>
                <a:latin typeface="DejaVu Sans"/>
                <a:ea typeface="DejaVu Sans"/>
                <a:cs typeface="DejaVu Sans"/>
              </a:rPr>
              <a:t>Аккаунты и версии проектов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92D43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92D43"/>
                </a:solidFill>
                <a:latin typeface="DejaVu Sans"/>
                <a:ea typeface="DejaVu Sans"/>
                <a:cs typeface="DejaVu Sans"/>
              </a:rPr>
              <a:t>Импорт и редактирование каталога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3E27EC-71B2-4B2A-8010-B998F9F8A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85925"/>
            <a:ext cx="5048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C06B35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C06B35"/>
                </a:solidFill>
                <a:latin typeface="DejaVu Sans"/>
                <a:ea typeface="DejaVu Sans"/>
                <a:cs typeface="DejaVu Sans"/>
              </a:rPr>
              <a:t>Ограничения и развитие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458E14-A5C6-4F6F-B60C-6013F4611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24125"/>
            <a:ext cx="4953000" cy="3476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92D43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92D43"/>
                </a:solidFill>
                <a:latin typeface="DejaVu Sans"/>
                <a:ea typeface="DejaVu Sans"/>
                <a:cs typeface="DejaVu Sans"/>
              </a:rPr>
              <a:t>Аэропорт и медучреждение:</a:t>
            </a:r>
          </a:p>
          <a:p xmlns:a="http://schemas.openxmlformats.org/drawingml/2006/main">
            <a:pPr>
              <a:defRPr sz="2100" b="0">
                <a:solidFill>
                  <a:srgbClr val="192D43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92D43"/>
                </a:solidFill>
                <a:latin typeface="DejaVu Sans"/>
                <a:ea typeface="DejaVu Sans"/>
                <a:cs typeface="DejaVu Sans"/>
              </a:rPr>
              <a:t>параметры и обзор решений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92D43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92D43"/>
                </a:solidFill>
                <a:latin typeface="DejaVu Sans"/>
                <a:ea typeface="DejaVu Sans"/>
                <a:cs typeface="DejaVu Sans"/>
              </a:rPr>
              <a:t>Нужен VPS и публичный HTTPS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92D43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92D43"/>
                </a:solidFill>
                <a:latin typeface="DejaVu Sans"/>
                <a:ea typeface="DejaVu Sans"/>
                <a:cs typeface="DejaVu Sans"/>
              </a:rPr>
              <a:t>Следующий этап: обследование</a:t>
            </a:r>
          </a:p>
          <a:p xmlns:a="http://schemas.openxmlformats.org/drawingml/2006/main">
            <a:pPr>
              <a:defRPr sz="2100" b="0">
                <a:solidFill>
                  <a:srgbClr val="192D43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92D43"/>
                </a:solidFill>
                <a:latin typeface="DejaVu Sans"/>
                <a:ea typeface="DejaVu Sans"/>
                <a:cs typeface="DejaVu Sans"/>
              </a:rPr>
              <a:t>объекта и верификация поставщиком</a:t>
            </a:r>
          </a:p>
        </p:txBody>
      </p:sp>
    </p:spTree>
    <p:extLst>
      <p:ext uri="{BB962C8B-B14F-4D97-AF65-F5344CB8AC3E}">
        <p14:creationId xmlns:p14="http://schemas.microsoft.com/office/powerpoint/2010/main" val="17255609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2026-09-17T08:43:44.6840000Z</dcterms:created>
  <dcterms:modified xsi:type="dcterms:W3CDTF">2026-09-17T08:43:44.6840000Z</dcterms:modified>
</coreProperties>
</file>